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name and the one-line framing: FinAI trains trader psychology, not trade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Retail traders don't lose because of bad information — they lose because of unmanaged psychology. Land the 9-in-10 SEBI stat 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two-sided platform and the core positioning line: we are not a crystal ball, we are a behavioral mirror.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features: paper trading portfolio as the funnel, XAI receipts as the flagship differentiator, the counterfactual engine that quantifies discipline in rupees, and the market intelligence RAG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right: order ticket capture, deterministic feature engine computing Z-scores, rule evaluator binding to trade IDs, then the LLM synthesis layer that only translates — never invents.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slide. Read the receipt text aloud, then land the counterfactual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five-step demo flow judges will see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stack top to bottom, emphasizing that Claude sits at the AI layer bound by strict JSON schema, and that Fyers gives us free real-time WebSocket data for the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measure learning and discipline, not alpha. The compliance point is a differentiator: no real capital means we sit outside SEBI's IA and algo-trading triggers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roadmap to show this scales past the hackathon, quickly touch mitigations, and end on the closing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0"/>
            <a:ext cx="4953000" cy="10287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16437099" y="666750"/>
            <a:ext cx="126035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NIOHACK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31989" y="8477250"/>
            <a:ext cx="174818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364"/>
              </a:lnSpc>
              <a:buNone/>
            </a:pPr>
            <a:r>
              <a:rPr lang="en-US" sz="1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952500" y="2856607"/>
            <a:ext cx="667131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I SUBMISSION — TRACK 10 · OPEN INNOVATION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3751957"/>
            <a:ext cx="7124700" cy="1381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503"/>
              </a:lnSpc>
              <a:buNone/>
            </a:pPr>
            <a:r>
              <a:rPr lang="en-US" sz="11250" b="1" spc="-337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FINAI</a:t>
            </a:r>
            <a:endParaRPr lang="en-US" sz="11250" dirty="0"/>
          </a:p>
        </p:txBody>
      </p:sp>
      <p:sp>
        <p:nvSpPr>
          <p:cNvPr id="7" name="Shape 5"/>
          <p:cNvSpPr/>
          <p:nvPr/>
        </p:nvSpPr>
        <p:spPr>
          <a:xfrm>
            <a:off x="952500" y="5437882"/>
            <a:ext cx="114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5790307"/>
            <a:ext cx="667131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37"/>
              </a:lnSpc>
              <a:buNone/>
            </a:pPr>
            <a:r>
              <a:rPr lang="en-US" sz="2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 Intelligence &amp; Paper-Trading Behavioral Coach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52500" y="7135118"/>
            <a:ext cx="7124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Hessonite · Spec v6.0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21022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335" y="857250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533525"/>
            <a:ext cx="14716125" cy="126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7"/>
              </a:lnSpc>
              <a:buNone/>
            </a:pPr>
            <a:r>
              <a:rPr lang="en-US" sz="4650" b="1" spc="-46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traders don't lose to bad information — they lose to unmanaged psychology.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3104704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723829"/>
            <a:ext cx="440055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913"/>
              </a:lnSpc>
              <a:buNone/>
            </a:pPr>
            <a:r>
              <a:rPr lang="en-US" sz="15000" b="1" dirty="0">
                <a:solidFill>
                  <a:srgbClr val="A3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algn="l" indent="0" marL="0">
              <a:lnSpc>
                <a:spcPct val="73913"/>
              </a:lnSpc>
              <a:buNone/>
            </a:pPr>
            <a:r>
              <a:rPr lang="en-US" sz="7500" b="1" dirty="0">
                <a:solidFill>
                  <a:srgbClr val="9C9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952500" y="5495479"/>
            <a:ext cx="41205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 F&amp;O day traders lose money, per SEBI's own studies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10250" y="3800029"/>
            <a:ext cx="1152525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9" name="Text 7"/>
          <p:cNvSpPr/>
          <p:nvPr/>
        </p:nvSpPr>
        <p:spPr>
          <a:xfrm>
            <a:off x="5810250" y="4019104"/>
            <a:ext cx="126777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Behavioral Tax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810250" y="4404866"/>
            <a:ext cx="1187100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aversion, revenge trading, overconfidence, and the disposition effect drive the losses — not missing data.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10250" y="5338316"/>
            <a:ext cx="1152525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12" name="Text 10"/>
          <p:cNvSpPr/>
          <p:nvPr/>
        </p:nvSpPr>
        <p:spPr>
          <a:xfrm>
            <a:off x="5810250" y="5557391"/>
            <a:ext cx="126777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Education Gap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810250" y="5943154"/>
            <a:ext cx="126777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Paper-trading apps teach execution — how to press buttons — not how to manage psychology.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810250" y="6533704"/>
            <a:ext cx="1152525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15" name="Text 13"/>
          <p:cNvSpPr/>
          <p:nvPr/>
        </p:nvSpPr>
        <p:spPr>
          <a:xfrm>
            <a:off x="5810250" y="6752779"/>
            <a:ext cx="126777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 Box Problem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810250" y="7138541"/>
            <a:ext cx="1187100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AI finance tools issue buy/sell signals with no explanation of the mechanics or the user's own patterns.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22933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335" y="857250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533525"/>
            <a:ext cx="180213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7"/>
              </a:lnSpc>
              <a:buNone/>
            </a:pPr>
            <a:r>
              <a:rPr lang="en-US" sz="4650" b="1" spc="-46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BEHAVIORAL MIRROR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952500" y="2433414"/>
            <a:ext cx="12753975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educational, two-sided AI platform that trains retail traders before they risk real capital: research on Side One feeds practice on Side Two, and every practice trade sharpens the behavioral profile that powers the XAI receipts.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4048720"/>
            <a:ext cx="7962900" cy="24955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1125" y="4477345"/>
            <a:ext cx="78162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1125" y="4905970"/>
            <a:ext cx="78162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81125" y="5429845"/>
            <a:ext cx="73188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RAG-powered engine fusing live prices, fundamentals, and news into plain-language analysis.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72600" y="4048720"/>
            <a:ext cx="7962900" cy="24955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01225" y="4477345"/>
            <a:ext cx="78162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F6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TWO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01225" y="4905970"/>
            <a:ext cx="78162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BEHAVIORAL SANDBOX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801225" y="5429845"/>
            <a:ext cx="73188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native paper-trading environment where users simulate trades against live market prices, zero capital at risk.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6925270"/>
            <a:ext cx="163830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7220545"/>
            <a:ext cx="168744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are not building a crystal ball. We are building a behavioral mirror."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52500" y="7915870"/>
            <a:ext cx="16383000" cy="12192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17" name="Text 15"/>
          <p:cNvSpPr/>
          <p:nvPr/>
        </p:nvSpPr>
        <p:spPr>
          <a:xfrm>
            <a:off x="1276350" y="8201620"/>
            <a:ext cx="305779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TRANSFERS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84762" y="8182570"/>
            <a:ext cx="131086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aversion, revenge trading, and the disposition effect are wired to the experience of loss itself — not to the size of the capital. Phase 3's opt-in real broker link calibrates that same behavioral profile against genuine loss aversion.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24844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FEATURES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335" y="857250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533525"/>
            <a:ext cx="180213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7"/>
              </a:lnSpc>
              <a:buNone/>
            </a:pPr>
            <a:r>
              <a:rPr lang="en-US" sz="4650" b="1" spc="-46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FEATURES, ONE EDUCATIONAL LOOP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2490564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747739"/>
            <a:ext cx="1275397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(A) → get flagged with evidence (B) → see the rupee cost of the pattern (C) → understand the market context behind it (D).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3730600"/>
            <a:ext cx="16383000" cy="5219700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2025" y="6330925"/>
            <a:ext cx="8181975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Shape 7"/>
          <p:cNvSpPr/>
          <p:nvPr/>
        </p:nvSpPr>
        <p:spPr>
          <a:xfrm>
            <a:off x="9134475" y="3740125"/>
            <a:ext cx="9525" cy="26003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1285875" y="4063975"/>
            <a:ext cx="82772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9C9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5875" y="4454500"/>
            <a:ext cx="82772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PAPER-TRADING PORTFOLIO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285875" y="4864075"/>
            <a:ext cx="775049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₹1,00,000 capital trading real NSE/BSE instruments at live prices. 6–7 trades unlock the behavioral profile.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0" y="3740125"/>
            <a:ext cx="8181975" cy="26003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0" y="6330925"/>
            <a:ext cx="8181975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Shape 13"/>
          <p:cNvSpPr/>
          <p:nvPr/>
        </p:nvSpPr>
        <p:spPr>
          <a:xfrm>
            <a:off x="15961816" y="3740125"/>
            <a:ext cx="1364159" cy="371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6095166" y="3797275"/>
            <a:ext cx="11736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FLAGSHIP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67850" y="4063975"/>
            <a:ext cx="82877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67850" y="4454500"/>
            <a:ext cx="82877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 "RECEIPTS"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9467850" y="4864075"/>
            <a:ext cx="776030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CFC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intervention visually cites the user's own past trades that form the flagged pattern — transparent, not opaque.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34475" y="6340450"/>
            <a:ext cx="9525" cy="26003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1285875" y="6664300"/>
            <a:ext cx="82772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9C9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5875" y="7054825"/>
            <a:ext cx="82772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"WHAT-IF" COUNTERFACTUAL ENGINE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285875" y="7464400"/>
            <a:ext cx="775049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Simulates the P&amp;L of disciplined behavior, turning abstract advice into a concrete rupee ROI on psychology.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67850" y="6664300"/>
            <a:ext cx="82877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9C9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67850" y="7054825"/>
            <a:ext cx="82877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ENGINE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9467850" y="7464400"/>
            <a:ext cx="776030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Live/historical charts (candles, RSI, MACD) plus RAG-generated plain-language summaries and sentiment tagging.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22933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335" y="857250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533525"/>
            <a:ext cx="1571625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7"/>
              </a:lnSpc>
              <a:buNone/>
            </a:pPr>
            <a:r>
              <a:rPr lang="en-US" sz="4650" b="1" spc="-46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MATH, THEN LANGUAGE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2490564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071589"/>
            <a:ext cx="16383000" cy="2495550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2025" y="3081114"/>
            <a:ext cx="5457825" cy="2476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410325" y="3081114"/>
            <a:ext cx="9525" cy="2476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1266825" y="3385914"/>
            <a:ext cx="53225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6825" y="3795489"/>
            <a:ext cx="53225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 </a:t>
            </a:r>
            <a:pPr algn="l" indent="0" marL="0">
              <a:lnSpc>
                <a:spcPct val="112069"/>
              </a:lnSpc>
              <a:buNone/>
            </a:pPr>
            <a:r>
              <a:rPr lang="en-US" sz="1800" dirty="0">
                <a:solidFill>
                  <a:srgbClr val="9C9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(PYTHON)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266825" y="4219352"/>
            <a:ext cx="498386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strict Z-scores, trade-frequency gaps, position-size deltas.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19850" y="3081114"/>
            <a:ext cx="5457825" cy="2476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68150" y="3081114"/>
            <a:ext cx="9525" cy="2476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6724650" y="3385914"/>
            <a:ext cx="53225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4650" y="3795489"/>
            <a:ext cx="53225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EVALUATOR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6724650" y="4219352"/>
            <a:ext cx="4983861" cy="107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exact risk state, e.g. </a:t>
            </a:r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A33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REVENGE_TRADING_HIGH_RISK </a:t>
            </a:r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bound to trade IDs.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877675" y="3081114"/>
            <a:ext cx="5448300" cy="2476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Text 16"/>
          <p:cNvSpPr/>
          <p:nvPr/>
        </p:nvSpPr>
        <p:spPr>
          <a:xfrm>
            <a:off x="12182475" y="3385914"/>
            <a:ext cx="53225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182475" y="3795489"/>
            <a:ext cx="53225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SYNTHESIS </a:t>
            </a:r>
            <a:pPr algn="l" indent="0" marL="0">
              <a:lnSpc>
                <a:spcPct val="112069"/>
              </a:lnSpc>
              <a:buNone/>
            </a:pPr>
            <a:r>
              <a:rPr lang="en-US" sz="1800" dirty="0">
                <a:solidFill>
                  <a:srgbClr val="A8A6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(CLAUDE)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2182475" y="4219352"/>
            <a:ext cx="498386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CFC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the bound JSON payload into empathetic, educational language — never invents facts.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2500" y="6062439"/>
            <a:ext cx="2495550" cy="504825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1575" y="6167214"/>
            <a:ext cx="2133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Revenge Trading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600450" y="6062439"/>
            <a:ext cx="3730005" cy="504825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19525" y="6167214"/>
            <a:ext cx="34037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Position-Size Escalation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482855" y="6062439"/>
            <a:ext cx="2907060" cy="504825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01930" y="6167214"/>
            <a:ext cx="25561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Disposition Effect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542315" y="6062439"/>
            <a:ext cx="2084115" cy="504825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61390" y="6167214"/>
            <a:ext cx="17221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FOMO Entries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30577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FLAGSHIP FEATURE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335" y="857250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533525"/>
            <a:ext cx="180213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7"/>
              </a:lnSpc>
              <a:buNone/>
            </a:pPr>
            <a:r>
              <a:rPr lang="en-US" sz="4650" b="1" spc="-46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XAI RECEIPT, IN PRACTICE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2490564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995389"/>
            <a:ext cx="9399091" cy="3381375"/>
          </a:xfrm>
          <a:prstGeom prst="rect">
            <a:avLst/>
          </a:prstGeom>
          <a:solidFill>
            <a:srgbClr val="F3F1EC"/>
          </a:solidFill>
          <a:ln/>
          <a:effectLst>
            <a:outerShdw sx="100000" sy="100000" kx="0" ky="0" algn="bl" rotWithShape="0" blurRad="381000" dist="171450" dir="54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09700" y="3616449"/>
            <a:ext cx="93331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9C9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 — REVENGE_TRADING_HIGH_RISK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09700" y="4121274"/>
            <a:ext cx="8739232" cy="1672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424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 last 3 losses in banking stocks ( </a:t>
            </a:r>
            <a:pPr algn="l" indent="0" marL="0">
              <a:lnSpc>
                <a:spcPct val="145424"/>
              </a:lnSpc>
              <a:buNone/>
            </a:pPr>
            <a:r>
              <a:rPr lang="en-US" sz="195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Trades: T-41, T-42, T-45 </a:t>
            </a:r>
            <a:pPr algn="l" indent="0" marL="0">
              <a:lnSpc>
                <a:spcPct val="145424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were entered within 20 minutes of a negative sentiment spike. Sentiment is currently negative. Consider a 20-minute cooling-off window."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808791" y="2995389"/>
            <a:ext cx="6526709" cy="1576388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07258" y="3290664"/>
            <a:ext cx="65297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P&amp;L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807258" y="3662139"/>
            <a:ext cx="6529774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3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−₹8,500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0808791" y="4800377"/>
            <a:ext cx="6526709" cy="1576388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07258" y="5095652"/>
            <a:ext cx="65297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6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Cooling-Off (Counterfactual)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807258" y="5467127"/>
            <a:ext cx="6529774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FD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+₹14,200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52500" y="6757764"/>
            <a:ext cx="142875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7033989"/>
            <a:ext cx="147161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single receipt is the product thesis in one screen: transparent, cited to real trade IDs, and quantified in rupees — not an opaque buy/sell signal.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36311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/ PRODUCT FLOW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335" y="857250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533525"/>
            <a:ext cx="180213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7"/>
              </a:lnSpc>
              <a:buNone/>
            </a:pPr>
            <a:r>
              <a:rPr lang="en-US" sz="4650" b="1" spc="-46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STEPS, FROM SIGNUP TO INSIGHT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2490564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747739"/>
            <a:ext cx="1275397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what judges will see live, end to end, in under three minutes — a real intervention on a real (simulated) trade, not a mockup.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24000" y="4178275"/>
            <a:ext cx="152400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8" name="Shape 6"/>
          <p:cNvSpPr/>
          <p:nvPr/>
        </p:nvSpPr>
        <p:spPr>
          <a:xfrm>
            <a:off x="2400300" y="3997300"/>
            <a:ext cx="381000" cy="381000"/>
          </a:xfrm>
          <a:prstGeom prst="ellipse">
            <a:avLst/>
          </a:prstGeom>
          <a:solidFill>
            <a:srgbClr val="F3F1EC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81250" y="401635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03859" y="4721200"/>
            <a:ext cx="177388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40702" y="5445100"/>
            <a:ext cx="31001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₹1,00,000 virtual educational portfolio issued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76900" y="3997300"/>
            <a:ext cx="381000" cy="381000"/>
          </a:xfrm>
          <a:prstGeom prst="ellipse">
            <a:avLst/>
          </a:prstGeom>
          <a:solidFill>
            <a:srgbClr val="F3F1EC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7850" y="401635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39184" y="4721200"/>
            <a:ext cx="145643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17301" y="5445100"/>
            <a:ext cx="31001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6–7 paper trades placed on live-priced instruments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53500" y="3997300"/>
            <a:ext cx="381000" cy="381000"/>
          </a:xfrm>
          <a:prstGeom prst="ellipse">
            <a:avLst/>
          </a:prstGeom>
          <a:solidFill>
            <a:srgbClr val="F3F1EC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34450" y="401635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46418" y="4721200"/>
            <a:ext cx="179516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CAPTURE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93902" y="5445100"/>
            <a:ext cx="31001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computes rolling features, unlocks profile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230100" y="3997300"/>
            <a:ext cx="381000" cy="381000"/>
          </a:xfrm>
          <a:prstGeom prst="ellipse">
            <a:avLst/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11050" y="401635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317635" y="4721200"/>
            <a:ext cx="220593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 INTERVENTION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870502" y="5445100"/>
            <a:ext cx="31001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+ counterfactual P&amp;L surfaced live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506700" y="3997300"/>
            <a:ext cx="381000" cy="381000"/>
          </a:xfrm>
          <a:prstGeom prst="ellipse">
            <a:avLst/>
          </a:prstGeom>
          <a:solidFill>
            <a:srgbClr val="F3F1EC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487650" y="401635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865251" y="4721200"/>
            <a:ext cx="166389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CHOICE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47102" y="5445100"/>
            <a:ext cx="31001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Proceed, resize, or pause — every choice logged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8293075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9" name="Shape 27"/>
          <p:cNvSpPr/>
          <p:nvPr/>
        </p:nvSpPr>
        <p:spPr>
          <a:xfrm>
            <a:off x="952500" y="6854800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3925" y="6864325"/>
            <a:ext cx="9525" cy="1428750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31" name="Text 29"/>
          <p:cNvSpPr/>
          <p:nvPr/>
        </p:nvSpPr>
        <p:spPr>
          <a:xfrm>
            <a:off x="784704" y="7150075"/>
            <a:ext cx="578701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 min</a:t>
            </a:r>
            <a:endParaRPr lang="en-US" sz="3300" dirty="0"/>
          </a:p>
        </p:txBody>
      </p:sp>
      <p:sp>
        <p:nvSpPr>
          <p:cNvPr id="32" name="Text 30"/>
          <p:cNvSpPr/>
          <p:nvPr/>
        </p:nvSpPr>
        <p:spPr>
          <a:xfrm>
            <a:off x="784704" y="7712050"/>
            <a:ext cx="57870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LENGTH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864950" y="6864325"/>
            <a:ext cx="9525" cy="1428750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34" name="Text 32"/>
          <p:cNvSpPr/>
          <p:nvPr/>
        </p:nvSpPr>
        <p:spPr>
          <a:xfrm>
            <a:off x="6245650" y="7150075"/>
            <a:ext cx="57871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300" dirty="0"/>
          </a:p>
        </p:txBody>
      </p:sp>
      <p:sp>
        <p:nvSpPr>
          <p:cNvPr id="35" name="Text 33"/>
          <p:cNvSpPr/>
          <p:nvPr/>
        </p:nvSpPr>
        <p:spPr>
          <a:xfrm>
            <a:off x="6245650" y="7712050"/>
            <a:ext cx="5787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CAPITAL AT RISK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706203" y="7150075"/>
            <a:ext cx="579749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300" dirty="0"/>
          </a:p>
        </p:txBody>
      </p:sp>
      <p:sp>
        <p:nvSpPr>
          <p:cNvPr id="37" name="Text 35"/>
          <p:cNvSpPr/>
          <p:nvPr/>
        </p:nvSpPr>
        <p:spPr>
          <a:xfrm>
            <a:off x="11706203" y="7712050"/>
            <a:ext cx="57974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CITED, EXPLAINABLE OUTPUT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47777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 &amp;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335" y="857250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533525"/>
            <a:ext cx="180213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7"/>
              </a:lnSpc>
              <a:buNone/>
            </a:pPr>
            <a:r>
              <a:rPr lang="en-US" sz="4650" b="1" spc="-46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DATA, REGULATOR-SAFE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2490564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919189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3081114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9C9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76600" y="3081114"/>
            <a:ext cx="2724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9C9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81700" y="3081114"/>
            <a:ext cx="124891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9C9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3528789"/>
            <a:ext cx="163830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726433"/>
            <a:ext cx="2305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76600" y="3709764"/>
            <a:ext cx="2724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+ Recharts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81700" y="3716908"/>
            <a:ext cx="1248918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to build, chart-ready, mirrors enterprise broker UI patterns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4176489"/>
            <a:ext cx="163830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4521771"/>
            <a:ext cx="2305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Core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76600" y="4357464"/>
            <a:ext cx="25527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 / Node.js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81700" y="4512246"/>
            <a:ext cx="1248918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handling of real-time WebSocket data streams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5119464"/>
            <a:ext cx="163830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5333777"/>
            <a:ext cx="21717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Engine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76600" y="5300439"/>
            <a:ext cx="25527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(Rule Evaluator)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81700" y="5455221"/>
            <a:ext cx="1248918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Z-scores and trade metrics as strictly bound JSON risk payloads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6062439"/>
            <a:ext cx="163830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6260083"/>
            <a:ext cx="2305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76600" y="6243414"/>
            <a:ext cx="2724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81700" y="6250558"/>
            <a:ext cx="1248918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paper-trade logs, fast querying for XAI receipts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2500" y="7357839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Shape 25"/>
          <p:cNvSpPr/>
          <p:nvPr/>
        </p:nvSpPr>
        <p:spPr>
          <a:xfrm>
            <a:off x="952500" y="6710139"/>
            <a:ext cx="163830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6907783"/>
            <a:ext cx="2305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76600" y="6891114"/>
            <a:ext cx="2724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API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81700" y="6898258"/>
            <a:ext cx="1248918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RAG summaries + strict JSON-schema ingestion, education-only outputs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2500" y="7653114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data: </a:t>
            </a:r>
            <a:pPr algn="l" indent="0" marL="0">
              <a:buNone/>
            </a:pPr>
            <a:r>
              <a:rPr lang="en-US" sz="180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Fyers API </a:t>
            </a:r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(free real-time WebSocket, primary) · Dhan / Angel One (fallback)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53511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 METRICS &amp; COMPLIANCE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335" y="857250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533525"/>
            <a:ext cx="14716125" cy="126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7"/>
              </a:lnSpc>
              <a:buNone/>
            </a:pPr>
            <a:r>
              <a:rPr lang="en-US" sz="4650" b="1" spc="-46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 LEARNING &amp; DISCIPLINE, NOT ALPHA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3219004"/>
            <a:ext cx="88011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380929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8315" y="3390454"/>
            <a:ext cx="822491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 Receipt Engagement — click-through on flagged historical trades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3828604"/>
            <a:ext cx="88011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990529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98315" y="4000054"/>
            <a:ext cx="707075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 Reflection Time — pause before proceeding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4438204"/>
            <a:ext cx="88011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4600129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98315" y="4609654"/>
            <a:ext cx="672213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Cooling-Off Adoption Rate — accepted vs. forced trades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5047804"/>
            <a:ext cx="88011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5209729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98315" y="5219254"/>
            <a:ext cx="850732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Post-Loss Trade Frequency — reduction within 30 min of a flagged loss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6267004"/>
            <a:ext cx="88011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18" name="Shape 16"/>
          <p:cNvSpPr/>
          <p:nvPr/>
        </p:nvSpPr>
        <p:spPr>
          <a:xfrm>
            <a:off x="952500" y="5657404"/>
            <a:ext cx="88011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5819329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98315" y="5828854"/>
            <a:ext cx="675716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Rate — users reaching the 6–7 trade threshold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287000" y="3219004"/>
            <a:ext cx="7048500" cy="320970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0" y="3600004"/>
            <a:ext cx="6915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7FD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 — EDUCATION FIRST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668000" y="4085779"/>
            <a:ext cx="6475095" cy="11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trades are simulated — no real capital, no real exchange orders. FinAI sits outside SEBI's Investment-Adviser and algo-trading triggers by design.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68000" y="5339135"/>
            <a:ext cx="6475095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CFC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acts solely as a behavioral mirror citing historical data — never forward-looking financial advice.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2500" y="6771605"/>
            <a:ext cx="14287500" cy="9525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7028780"/>
            <a:ext cx="147161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same metrics apply whether capital is simulated or real — which is exactly what Phase 3's opt-in broker link is designed to prove.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45866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 &amp; WHY FINAI WINS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335" y="857250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533525"/>
            <a:ext cx="1571625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7"/>
              </a:lnSpc>
              <a:buNone/>
            </a:pPr>
            <a:r>
              <a:rPr lang="en-US" sz="4650" b="1" spc="-46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HACKATHON MVP TO A LASTING COACH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2604864"/>
            <a:ext cx="5206975" cy="25336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47764"/>
            <a:ext cx="49732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7FD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— NOW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3357339"/>
            <a:ext cx="49732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MVP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295400" y="3747864"/>
            <a:ext cx="465681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CFC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trading, XAI receipts, and the counterfactual engine — live and demoable today.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40475" y="2604864"/>
            <a:ext cx="5206975" cy="2533650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92900" y="2957289"/>
            <a:ext cx="49523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92900" y="3366864"/>
            <a:ext cx="49523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REPLAY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6892900" y="3757389"/>
            <a:ext cx="463718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Paper-trade historical high-volatility days — elections, budget days — for accelerated learning.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128450" y="2604864"/>
            <a:ext cx="5207050" cy="2533650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80875" y="2957289"/>
            <a:ext cx="49524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6D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480875" y="3366864"/>
            <a:ext cx="49524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OPT-IN REAL BROKER LINKING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2480875" y="3757389"/>
            <a:ext cx="463726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Kite Connect / Upstox, to calibrate paper-trading psychology against real-money loss aversion.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5557614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5871939"/>
            <a:ext cx="1177290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46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HALLUCINATION-FREE, REGULATOR-SAFE PRODUCT THAT TURNS DISCIPLINE INTO A MEASURABLE NUMBER.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5339045" y="6022404"/>
            <a:ext cx="1996455" cy="628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FinAI </a:t>
            </a:r>
            <a:pPr algn="r" indent="0" marL="0">
              <a:buNone/>
            </a:pPr>
            <a:r>
              <a:rPr lang="en-US" sz="1800" dirty="0">
                <a:solidFill>
                  <a:srgbClr val="9C9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Hessonite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2026-08-13T05:18:58Z</dcterms:created>
  <dcterms:modified xsi:type="dcterms:W3CDTF">2026-08-13T05:18:58Z</dcterms:modified>
</cp:coreProperties>
</file>