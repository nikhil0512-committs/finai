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23137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NIOHACK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7061135" y="952500"/>
            <a:ext cx="3505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3440906"/>
            <a:ext cx="15716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I SUBMISSION — TRACK 10 · OPEN INNOVATION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964781"/>
            <a:ext cx="1571625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750" b="1" spc="-15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lnSpc>
                <a:spcPct val="86957"/>
              </a:lnSpc>
              <a:buNone/>
            </a:pPr>
            <a:r>
              <a:rPr lang="en-US" sz="9750" b="1" spc="-150" kern="0" dirty="0">
                <a:solidFill>
                  <a:srgbClr val="2E9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952500" y="5431631"/>
            <a:ext cx="157162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 Intelligence &amp; Paper-Trading Behavioral Coach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2500" y="6017419"/>
            <a:ext cx="12573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theme: retail traders lose to unmanaged psychology, not bad information.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8534400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9072563"/>
            <a:ext cx="18029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Hessonite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23509" y="9072563"/>
            <a:ext cx="19704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Thapar University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94030" y="8810625"/>
            <a:ext cx="524147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 — Bhuvan Malhotra bhuvanmalhotra11@gmail.com · +91-7888307155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57843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 &amp; PROBLEM STATEMENT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687449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traders don't lose to bad information — they lose to unmanaged psychology.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943225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486150"/>
            <a:ext cx="356235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61"/>
              </a:lnSpc>
              <a:buNone/>
            </a:pPr>
            <a:r>
              <a:rPr lang="en-US" sz="9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lnSpc>
                <a:spcPct val="78261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952500" y="4705350"/>
            <a:ext cx="333565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F&amp;O day traders lose money, per SEBI's own studies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24400" y="3486150"/>
            <a:ext cx="43167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Behavioral Tax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724400" y="3929063"/>
            <a:ext cx="4042029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aversion, revenge trading, overconfidence, and the disposition effect drive the losses — not missing data.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067800" y="3486150"/>
            <a:ext cx="43167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Education Gap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067800" y="3929063"/>
            <a:ext cx="404202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paper-trading apps only teach execution — how to press buttons — never how to manage psychology.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411200" y="3486150"/>
            <a:ext cx="43167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 Problem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411200" y="3929063"/>
            <a:ext cx="4042029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AI finance tools act as crystal balls — buy/sell signals with no explanation of the mechanics or the user's own patterns.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23137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BEHAVIORAL MIRROR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790700"/>
            <a:ext cx="15697200" cy="1226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74"/>
              </a:lnSpc>
              <a:buNone/>
            </a:pPr>
            <a:r>
              <a:rPr lang="en-US" sz="39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FinAI is an educational, two-sided AI platform that trains retail traders before they risk real capital.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52500" y="3265140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731865"/>
            <a:ext cx="86963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4084290"/>
            <a:ext cx="8696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4589115"/>
            <a:ext cx="814292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RAG-powered engine fusing live prices, fundamentals, and news into plain-language analysis.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29750" y="3731865"/>
            <a:ext cx="86963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TWO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29750" y="4084290"/>
            <a:ext cx="8696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Behavioral Sandbox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29750" y="4589115"/>
            <a:ext cx="814292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native paper-trading environment where users simulate trades against live market prices — zero capital at risk.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7677150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8618339"/>
            <a:ext cx="882967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are not building a crystal ball. We are building a behavioral mirror."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239500" y="8143875"/>
            <a:ext cx="67056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TRANSFERS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39500" y="8496300"/>
            <a:ext cx="627888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aversion and the disposition effect are wired to the experience of loss itself, not the size of the capital — Phase 3 calibrates the same profile against real loss aversion.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3497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 Existing Tool Does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300288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843213"/>
            <a:ext cx="5156150" cy="6681788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025" y="3233738"/>
            <a:ext cx="48126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PAPER-TRADING APPS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43025" y="3681413"/>
            <a:ext cx="481261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81"/>
              </a:lnSpc>
              <a:buNone/>
            </a:pPr>
            <a:r>
              <a:rPr lang="en-US" sz="21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Psychology, Not Buttons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343025" y="4203353"/>
            <a:ext cx="450635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simulate order execution. FinAI is the first to attach a behavioral-diagnostic layer to every simulated trade.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65850" y="2843213"/>
            <a:ext cx="5156225" cy="6681788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56375" y="3233738"/>
            <a:ext cx="4812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AI SIGNAL TOOLS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56375" y="3681413"/>
            <a:ext cx="481269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81"/>
              </a:lnSpc>
              <a:buNone/>
            </a:pPr>
            <a:r>
              <a:rPr lang="en-US" sz="21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Cited, Not Opaque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6956375" y="4203353"/>
            <a:ext cx="450643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output a buy/sell verdict with no reasoning. FinAI's Hybrid Architecture makes every nudge traceable to the user's own trade IDs — hallucination-structurally-prevented.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179275" y="2843213"/>
            <a:ext cx="5156150" cy="6681788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69800" y="3233738"/>
            <a:ext cx="48126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ROBO-ADVISORS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569800" y="3681413"/>
            <a:ext cx="481261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81"/>
              </a:lnSpc>
              <a:buNone/>
            </a:pPr>
            <a:r>
              <a:rPr lang="en-US" sz="21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Rupee ROI on Discipline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2569800" y="4203353"/>
            <a:ext cx="450635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manage a portfolio for the user. FinAI's Counterfactual Engine quantifies the exact cost of the user's own behavior in rupees.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59771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STOPPER — FLAGSHIP FEATURE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XAI Receipt, In Practice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300288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843213"/>
            <a:ext cx="9580587" cy="5648325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1125" y="3271838"/>
            <a:ext cx="56482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 — REVENGE_TRADING_HIGH_RISK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1125" y="3757613"/>
            <a:ext cx="8985037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2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last 3 losses in banking stocks ( </a:t>
            </a:r>
            <a:pPr algn="l" indent="0" marL="0">
              <a:lnSpc>
                <a:spcPct val="134783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Trades: T-41, T-42, T-45 </a:t>
            </a:r>
            <a:pPr algn="l" indent="0" marL="0">
              <a:lnSpc>
                <a:spcPct val="134783"/>
              </a:lnSpc>
              <a:buNone/>
            </a:pPr>
            <a:r>
              <a:rPr lang="en-US" sz="22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were entered within 20 minutes of a negative sentiment spike. Sentiment is currently negative. Consider a 20-minute cooling-off window."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104587" y="2843213"/>
            <a:ext cx="6230913" cy="1576388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18912" y="3157538"/>
            <a:ext cx="61624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P&amp;L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18912" y="3533775"/>
            <a:ext cx="616248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−₹8,500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11104587" y="4724400"/>
            <a:ext cx="6230913" cy="1576388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18912" y="5038725"/>
            <a:ext cx="61624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Cooling-Off (Counterfactual)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18912" y="5414963"/>
            <a:ext cx="616248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1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+₹14,200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952500" y="8948738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9263063"/>
            <a:ext cx="168744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screen, entire thesis: transparent, cited to real trade IDs, and quantified in rupees — not an opaque buy/sell signal.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21209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Math, Then Language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300288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767013"/>
            <a:ext cx="56717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— CONTEXT SNAP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3176588"/>
            <a:ext cx="56717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3619500"/>
            <a:ext cx="53108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ticket captures symbol/size/price; engine computes Z-scores &amp; trade-frequency gaps.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65850" y="2767013"/>
            <a:ext cx="56718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— TRIGGER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65850" y="3176588"/>
            <a:ext cx="567184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Evaluator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65850" y="3619500"/>
            <a:ext cx="531091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exact risk state (e.g. REVENGE_TRADING_HIGH_RISK), bound to trade IDs.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79275" y="2767013"/>
            <a:ext cx="56717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— GUARDRAIL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79275" y="3176588"/>
            <a:ext cx="56717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Synthesis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179275" y="3619500"/>
            <a:ext cx="531083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turns the bound JSON payload into empathetic language — never invents facts, never says "buy/sell X."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5105400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495925"/>
            <a:ext cx="15514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Registration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05844" y="5495925"/>
            <a:ext cx="304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77344" y="5495925"/>
            <a:ext cx="138376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Simulation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78214" y="5495925"/>
            <a:ext cx="304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49714" y="5495925"/>
            <a:ext cx="170537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Data Capture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42956" y="5495925"/>
            <a:ext cx="304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14456" y="5495925"/>
            <a:ext cx="19989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XAI Intervention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74548" y="5495925"/>
            <a:ext cx="304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46048" y="5495925"/>
            <a:ext cx="15932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User Choice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" y="6100763"/>
            <a:ext cx="245926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 min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952500" y="6667500"/>
            <a:ext cx="24592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LENGTH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97796" y="6100763"/>
            <a:ext cx="2748379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900" dirty="0"/>
          </a:p>
        </p:txBody>
      </p:sp>
      <p:sp>
        <p:nvSpPr>
          <p:cNvPr id="28" name="Text 26"/>
          <p:cNvSpPr/>
          <p:nvPr/>
        </p:nvSpPr>
        <p:spPr>
          <a:xfrm>
            <a:off x="3797796" y="6667500"/>
            <a:ext cx="274837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CAPITAL AT RISK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05923" y="6100763"/>
            <a:ext cx="370289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900" dirty="0"/>
          </a:p>
        </p:txBody>
      </p:sp>
      <p:sp>
        <p:nvSpPr>
          <p:cNvPr id="30" name="Text 28"/>
          <p:cNvSpPr/>
          <p:nvPr/>
        </p:nvSpPr>
        <p:spPr>
          <a:xfrm>
            <a:off x="6905923" y="6667500"/>
            <a:ext cx="37028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CITED, EXPLAINABLE OUTPUT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36634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 &amp; BUDGET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Data, Near-Zero Cost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300288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728913"/>
            <a:ext cx="22551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31207" y="2728913"/>
            <a:ext cx="29318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5096" y="2728913"/>
            <a:ext cx="45103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138488"/>
            <a:ext cx="9272885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3300413"/>
            <a:ext cx="22551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31207" y="3300413"/>
            <a:ext cx="29318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Recharts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5096" y="3300413"/>
            <a:ext cx="45103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chart-ready, broker-like UI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" y="3714750"/>
            <a:ext cx="22551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31207" y="3714750"/>
            <a:ext cx="29318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Node.js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5096" y="3714750"/>
            <a:ext cx="45103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real-time WebSocket streams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4129088"/>
            <a:ext cx="212630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31207" y="4129088"/>
            <a:ext cx="274524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5096" y="4129088"/>
            <a:ext cx="422329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Z-scores as strictly bound JSON payloads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4805363"/>
            <a:ext cx="22551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31207" y="4805363"/>
            <a:ext cx="29318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5096" y="4805363"/>
            <a:ext cx="45103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trade logs, fast receipt queries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500" y="5219700"/>
            <a:ext cx="212630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31207" y="5219700"/>
            <a:ext cx="274524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25096" y="5219700"/>
            <a:ext cx="422329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RAG + JSON-schema, education-only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" y="6048375"/>
            <a:ext cx="1020025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data: </a:t>
            </a:r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Fyers API </a:t>
            </a:r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 real-time WebSocket) · Dhan / Angel One (fallback)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2500" y="6500813"/>
            <a:ext cx="955114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above is free-tier or usage-based — the MVP scales from hackathon demo to pilot without a re-architecture.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758860" y="2728913"/>
            <a:ext cx="6576640" cy="6796088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49385" y="3119438"/>
            <a:ext cx="6375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 BUILD BUDGET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149385" y="4095750"/>
            <a:ext cx="579559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0" name="Text 28"/>
          <p:cNvSpPr/>
          <p:nvPr/>
        </p:nvSpPr>
        <p:spPr>
          <a:xfrm>
            <a:off x="11149385" y="3719512"/>
            <a:ext cx="311615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(Fyers free tier)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699037" y="3719512"/>
            <a:ext cx="3221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149385" y="4595813"/>
            <a:ext cx="579559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11149385" y="4219575"/>
            <a:ext cx="29906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(free-tier compute)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699037" y="4219575"/>
            <a:ext cx="3221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149385" y="5095875"/>
            <a:ext cx="579559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6" name="Text 34"/>
          <p:cNvSpPr/>
          <p:nvPr/>
        </p:nvSpPr>
        <p:spPr>
          <a:xfrm>
            <a:off x="11149385" y="4719638"/>
            <a:ext cx="32006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Postgres (free tier)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699037" y="4719638"/>
            <a:ext cx="3221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149385" y="5595938"/>
            <a:ext cx="579559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Text 37"/>
          <p:cNvSpPr/>
          <p:nvPr/>
        </p:nvSpPr>
        <p:spPr>
          <a:xfrm>
            <a:off x="11149385" y="5219700"/>
            <a:ext cx="35503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(demo-scale usage)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311265" y="5219700"/>
            <a:ext cx="7099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~₹800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149385" y="5776913"/>
            <a:ext cx="26499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Total, hackathon MVP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6250096" y="5776913"/>
            <a:ext cx="7710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~₹800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1149385" y="6348413"/>
            <a:ext cx="596945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paid infrastructure blocks the demo — every credential used today is a free developer tier.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30849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OUTCOME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8021300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Discipline, Measured — Not Alpha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252663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681288"/>
            <a:ext cx="422243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3186113"/>
            <a:ext cx="395373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Receipt Engagement — click-through on flagged historical trades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33975" y="2681288"/>
            <a:ext cx="422243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133975" y="3186113"/>
            <a:ext cx="395373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Cooling-Off Adoption Rate — accepted vs. forced trades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15450" y="2681288"/>
            <a:ext cx="422243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315450" y="3186113"/>
            <a:ext cx="3953732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Post-Loss Trade Frequency — reduction within 30 min of a flagged loss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496925" y="2681288"/>
            <a:ext cx="422243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3496925" y="3186113"/>
            <a:ext cx="395373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Rate — users reaching the 6–7 trade threshold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4565154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4917579"/>
            <a:ext cx="87172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 mitigated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5255716"/>
            <a:ext cx="816254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context is structurally prevented — the LLM only ever narrates the Python rule engine's bound JSON payload.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6170116"/>
            <a:ext cx="7924800" cy="1933575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8725" y="6446341"/>
            <a:ext cx="81095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 — EDUCATION FIRST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28725" y="6798766"/>
            <a:ext cx="759352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trades are simulated — no real capital, no real exchange orders. FinAI sits outside SEBI's Investment-Adviser and algo-trading triggers by design.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0700" y="4917579"/>
            <a:ext cx="8162544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Phase 2 Market Replay (historical volatility days), Phase 3 opt-in real broker linking via Kite Connect / Upstox to calibrate against genuine loss aversion.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10700" y="5893891"/>
            <a:ext cx="2489150" cy="28575"/>
          </a:xfrm>
          <a:prstGeom prst="rect">
            <a:avLst/>
          </a:prstGeom>
          <a:solidFill>
            <a:srgbClr val="2E9E6F"/>
          </a:solidFill>
          <a:ln/>
        </p:spPr>
      </p:sp>
      <p:sp>
        <p:nvSpPr>
          <p:cNvPr id="22" name="Text 20"/>
          <p:cNvSpPr/>
          <p:nvPr/>
        </p:nvSpPr>
        <p:spPr>
          <a:xfrm>
            <a:off x="9410700" y="6055816"/>
            <a:ext cx="273806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10700" y="6317754"/>
            <a:ext cx="25653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MVP — LIVE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128450" y="5893891"/>
            <a:ext cx="2489225" cy="2857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3"/>
          <p:cNvSpPr/>
          <p:nvPr/>
        </p:nvSpPr>
        <p:spPr>
          <a:xfrm>
            <a:off x="12128450" y="6055816"/>
            <a:ext cx="27381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128450" y="6317754"/>
            <a:ext cx="27381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REPLAY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846275" y="5893891"/>
            <a:ext cx="2489225" cy="2857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8" name="Text 26"/>
          <p:cNvSpPr/>
          <p:nvPr/>
        </p:nvSpPr>
        <p:spPr>
          <a:xfrm>
            <a:off x="14846275" y="6055816"/>
            <a:ext cx="27381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846275" y="6317754"/>
            <a:ext cx="256542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BROKER LINKING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23137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&amp; ROLES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Hessonite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300288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843213"/>
            <a:ext cx="5156150" cy="5724525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025" y="3233738"/>
            <a:ext cx="48126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LEAD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43025" y="3643313"/>
            <a:ext cx="48126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 Sharma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43025" y="4071938"/>
            <a:ext cx="48126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Behavioral Systems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43025" y="4562475"/>
            <a:ext cx="450635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Hybrid XAI Architecture — the deterministic feature engine, rule evaluator, and Claude synthesis layer that generates every Receipt.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65850" y="2843213"/>
            <a:ext cx="5156225" cy="5724525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56375" y="3233738"/>
            <a:ext cx="4812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&amp; FRONTEND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56375" y="3643313"/>
            <a:ext cx="48126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Vedant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956375" y="4071938"/>
            <a:ext cx="481269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&amp; Product Design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56375" y="4562475"/>
            <a:ext cx="450643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order ticket, portfolio, and charting UI in Next.js + Recharts, and designs the Receipt / Counterfactual interaction itself.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79275" y="2843213"/>
            <a:ext cx="5156150" cy="5724525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69800" y="3233738"/>
            <a:ext cx="48126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INFRASTRUCTURE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569800" y="3643313"/>
            <a:ext cx="48126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Bhuvan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569800" y="4071938"/>
            <a:ext cx="48126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Market Data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569800" y="4562475"/>
            <a:ext cx="450635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Node.js backend, PostgreSQL schema, and the Fyers WebSocket integration streaming live prices into the sandbox.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" y="8986838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9263063"/>
            <a:ext cx="168744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roles, one architecture: the behavioral core, the interface that surfaces it, and the data pipeline that feeds both — built and demoable together for Round I.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28921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SCREENS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Sandbox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300288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767013"/>
            <a:ext cx="7962900" cy="6243638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8286" r="8286" t="0" b="0"/>
          <a:stretch/>
        </p:blipFill>
        <p:spPr>
          <a:xfrm>
            <a:off x="962025" y="2776538"/>
            <a:ext cx="7943850" cy="6224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9239250"/>
            <a:ext cx="8759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— Behavioral-Mirror Positioning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9372600" y="2767013"/>
            <a:ext cx="7962900" cy="6243638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8099" r="8099" t="0" b="0"/>
          <a:stretch/>
        </p:blipFill>
        <p:spPr>
          <a:xfrm>
            <a:off x="9382125" y="2776538"/>
            <a:ext cx="7943850" cy="6224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72600" y="9239250"/>
            <a:ext cx="8759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Connect, Simulate, Trade, Reflect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28921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SCREENS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&amp; the Behavioral Mirror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300288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767013"/>
            <a:ext cx="16383000" cy="6243638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31019"/>
          <a:stretch/>
        </p:blipFill>
        <p:spPr>
          <a:xfrm>
            <a:off x="962025" y="2776538"/>
            <a:ext cx="16363950" cy="6224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9239250"/>
            <a:ext cx="18021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Market Intelligence, Behavioral Mirror &amp; What-If Counterfactual Cards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92810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75187" y="80010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0175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300288"/>
            <a:ext cx="16383000" cy="952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767013"/>
            <a:ext cx="3303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73398" y="2767013"/>
            <a:ext cx="1511976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SEBI, Study on Profitability of Individual Traders in Equity Futures &amp; Options Segment, 2023 — basis for the "9 in 10" retail loss statistic.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3414713"/>
            <a:ext cx="3303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3398" y="3414713"/>
            <a:ext cx="134314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Kahneman, D. &amp; Tversky, A., Prospect Theory: An Analysis of Decision under Risk, Econometrica, 1979 — loss aversion.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4062412"/>
            <a:ext cx="3303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3398" y="4062412"/>
            <a:ext cx="135721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Shefrin, H. &amp; Statman, M., The Disposition to Sell Winners Too Early and Ride Losers Too Long, Journal of Finance, 1985.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4710113"/>
            <a:ext cx="3303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73398" y="4710113"/>
            <a:ext cx="139356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Fyers API &amp; Anthropic Claude API documentation — real-time market data and grounded RAG / structured-output generation.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8226" y="3552825"/>
            <a:ext cx="5591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9A99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NIOHACK 2026 — TEAM HESSONITE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667872" y="4191000"/>
            <a:ext cx="4952256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2888851" y="5572125"/>
            <a:ext cx="1251029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C9C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hallucination-free, regulator-safe product that turns discipline into a measurable number.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740314" y="6472238"/>
            <a:ext cx="480737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bhuvanmalhotra11@gmail.com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2026-08-14T17:49:08Z</dcterms:created>
  <dcterms:modified xsi:type="dcterms:W3CDTF">2026-08-14T17:49:08Z</dcterms:modified>
</cp:coreProperties>
</file>